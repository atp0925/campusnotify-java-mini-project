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xtracted_im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74320"/>
            <a:ext cx="7772400" cy="2450095"/>
          </a:xfrm>
          <a:prstGeom prst="rect">
            <a:avLst/>
          </a:prstGeom>
        </p:spPr>
      </p:pic>
      <p:sp>
        <p:nvSpPr>
          <p:cNvPr id="3" name="Right Triangle 2"/>
          <p:cNvSpPr/>
          <p:nvPr/>
        </p:nvSpPr>
        <p:spPr>
          <a:xfrm rot="10800000">
            <a:off x="9601200" y="0"/>
            <a:ext cx="2590495" cy="6858000"/>
          </a:xfrm>
          <a:prstGeom prst="rtTriangle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>
            <a:off x="10241280" y="1371600"/>
            <a:ext cx="1950415" cy="5486400"/>
          </a:xfrm>
          <a:prstGeom prst="rtTriangle">
            <a:avLst/>
          </a:prstGeom>
          <a:solidFill>
            <a:srgbClr val="A9D08E"/>
          </a:solidFill>
          <a:ln>
            <a:solidFill>
              <a:srgbClr val="A9D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Triangle 4"/>
          <p:cNvSpPr/>
          <p:nvPr/>
        </p:nvSpPr>
        <p:spPr>
          <a:xfrm rot="5400000">
            <a:off x="10789920" y="2743200"/>
            <a:ext cx="1401775" cy="4114800"/>
          </a:xfrm>
          <a:prstGeom prst="rtTriangl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8961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i="0" sz="2600">
                <a:solidFill>
                  <a:srgbClr val="375623"/>
                </a:solidFill>
                <a:latin typeface="Calibri"/>
              </a:rPr>
              <a:t>CAMPUS NOTIFY: INSTITUTIONAL CIRCULAR &amp;
ANNOUNCEMENT MANAGEMENT SYSTEM</a:t>
            </a:r>
          </a:p>
          <a:p>
            <a:pPr>
              <a:spcAft>
                <a:spcPts val="1000"/>
              </a:spcAft>
            </a:pPr>
            <a:r>
              <a:rPr b="0" i="1" sz="1400">
                <a:solidFill>
                  <a:srgbClr val="64748B"/>
                </a:solidFill>
                <a:latin typeface="Calibri"/>
              </a:rPr>
              <a:t>A Modular, Object-Oriented System in Core Java SE 17 with Responsive Web Interface</a:t>
            </a:r>
          </a:p>
          <a:p>
            <a:r>
              <a:rPr b="1" i="0" sz="1200">
                <a:solidFill>
                  <a:srgbClr val="70AD47"/>
                </a:solidFill>
                <a:latin typeface="Calibri"/>
              </a:rPr>
              <a:t>Review – 1 Presentation | Java Programming Laboratory (Semester – III)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8961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i="0" sz="1500">
                <a:solidFill>
                  <a:srgbClr val="1E293B"/>
                </a:solidFill>
                <a:latin typeface="Calibri"/>
              </a:rPr>
              <a:t>Guide: </a:t>
            </a:r>
            <a:r>
              <a:rPr b="1" i="0" sz="1500">
                <a:solidFill>
                  <a:srgbClr val="70AD47"/>
                </a:solidFill>
                <a:latin typeface="Calibri"/>
              </a:rPr>
              <a:t>Prof. Sonali Kharat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6908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i="0" sz="1400">
                <a:solidFill>
                  <a:srgbClr val="1E293B"/>
                </a:solidFill>
                <a:latin typeface="Calibri"/>
              </a:rPr>
              <a:t>Team Details: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4480560"/>
          <a:ext cx="594359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749039"/>
              </a:tblGrid>
              <a:tr h="342900"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1" i="0" sz="1100">
                          <a:solidFill>
                            <a:srgbClr val="FFFFFF"/>
                          </a:solidFill>
                          <a:latin typeface="Calibri"/>
                        </a:rPr>
                        <a:t>Student ID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1" i="0" sz="1100">
                          <a:solidFill>
                            <a:srgbClr val="FFFFFF"/>
                          </a:solidFill>
                          <a:latin typeface="Calibri"/>
                        </a:rPr>
                        <a:t>Student Name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</a:tr>
              <a:tr h="342900"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1" i="0" sz="1100">
                          <a:solidFill>
                            <a:srgbClr val="1E293B"/>
                          </a:solidFill>
                          <a:latin typeface="Calibri"/>
                        </a:rPr>
                        <a:t>VU4F2526072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1" i="0" sz="1100">
                          <a:solidFill>
                            <a:srgbClr val="1E293B"/>
                          </a:solidFill>
                          <a:latin typeface="Calibri"/>
                        </a:rPr>
                        <a:t>PRATIK ATPADKAR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</a:tr>
              <a:tr h="342900"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1" i="0" sz="1100">
                          <a:solidFill>
                            <a:srgbClr val="1E293B"/>
                          </a:solidFill>
                          <a:latin typeface="Calibri"/>
                        </a:rPr>
                        <a:t>VU4F2526066</a:t>
                      </a:r>
                    </a:p>
                  </a:txBody>
                  <a:tcPr anchor="ctr">
                    <a:solidFill>
                      <a:srgbClr val="F2F8E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1" i="0" sz="1100">
                          <a:solidFill>
                            <a:srgbClr val="1E293B"/>
                          </a:solidFill>
                          <a:latin typeface="Calibri"/>
                        </a:rPr>
                        <a:t>HARSH TIWAR</a:t>
                      </a:r>
                    </a:p>
                  </a:txBody>
                  <a:tcPr anchor="ctr">
                    <a:solidFill>
                      <a:srgbClr val="F2F8EE"/>
                    </a:solidFill>
                  </a:tcPr>
                </a:tc>
              </a:tr>
              <a:tr h="342900"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1" i="0" sz="1100">
                          <a:solidFill>
                            <a:srgbClr val="1E293B"/>
                          </a:solidFill>
                          <a:latin typeface="Calibri"/>
                        </a:rPr>
                        <a:t>VU4F2526062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1" i="0" sz="1100">
                          <a:solidFill>
                            <a:srgbClr val="1E293B"/>
                          </a:solidFill>
                          <a:latin typeface="Calibri"/>
                        </a:rPr>
                        <a:t>PARTH GADADHE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6035040"/>
            <a:ext cx="8961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Department of Information Technology | VPPCOE&amp;VA, Sion, Mumbai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01200" y="0"/>
            <a:ext cx="2590495" cy="6858000"/>
          </a:xfrm>
          <a:prstGeom prst="rtTriangle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10241280" y="1371600"/>
            <a:ext cx="1950415" cy="5486400"/>
          </a:xfrm>
          <a:prstGeom prst="rtTriangle">
            <a:avLst/>
          </a:prstGeom>
          <a:solidFill>
            <a:srgbClr val="A9D08E"/>
          </a:solidFill>
          <a:ln>
            <a:solidFill>
              <a:srgbClr val="A9D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5400000">
            <a:off x="10789920" y="2743200"/>
            <a:ext cx="1401775" cy="4114800"/>
          </a:xfrm>
          <a:prstGeom prst="rtTriangl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70AD47"/>
                </a:solidFill>
                <a:latin typeface="Calibri"/>
              </a:defRPr>
            </a:pPr>
            <a:r>
              <a:t>Table of Content: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8686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i="0" sz="18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700">
                <a:solidFill>
                  <a:srgbClr val="1E293B"/>
                </a:solidFill>
                <a:latin typeface="Calibri"/>
              </a:rPr>
              <a:t>Introduction</a:t>
            </a:r>
          </a:p>
          <a:p>
            <a:pPr>
              <a:spcAft>
                <a:spcPts val="1400"/>
              </a:spcAft>
            </a:pPr>
            <a:r>
              <a:rPr b="1" i="0" sz="18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700">
                <a:solidFill>
                  <a:srgbClr val="1E293B"/>
                </a:solidFill>
                <a:latin typeface="Calibri"/>
              </a:rPr>
              <a:t>Problem Statement</a:t>
            </a:r>
          </a:p>
          <a:p>
            <a:pPr>
              <a:spcAft>
                <a:spcPts val="1400"/>
              </a:spcAft>
            </a:pPr>
            <a:r>
              <a:rPr b="1" i="0" sz="18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700">
                <a:solidFill>
                  <a:srgbClr val="1E293B"/>
                </a:solidFill>
                <a:latin typeface="Calibri"/>
              </a:rPr>
              <a:t>Objectives</a:t>
            </a:r>
          </a:p>
          <a:p>
            <a:pPr>
              <a:spcAft>
                <a:spcPts val="1400"/>
              </a:spcAft>
            </a:pPr>
            <a:r>
              <a:rPr b="1" i="0" sz="18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700">
                <a:solidFill>
                  <a:srgbClr val="1E293B"/>
                </a:solidFill>
                <a:latin typeface="Calibri"/>
              </a:rPr>
              <a:t>Literature Survey</a:t>
            </a:r>
          </a:p>
          <a:p>
            <a:pPr>
              <a:spcAft>
                <a:spcPts val="1400"/>
              </a:spcAft>
            </a:pPr>
            <a:r>
              <a:rPr b="1" i="0" sz="18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700">
                <a:solidFill>
                  <a:srgbClr val="1E293B"/>
                </a:solidFill>
                <a:latin typeface="Calibri"/>
              </a:rPr>
              <a:t>Research Gap</a:t>
            </a:r>
          </a:p>
          <a:p>
            <a:pPr>
              <a:spcAft>
                <a:spcPts val="1400"/>
              </a:spcAft>
            </a:pPr>
            <a:r>
              <a:rPr b="1" i="0" sz="18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700">
                <a:solidFill>
                  <a:srgbClr val="1E293B"/>
                </a:solidFill>
                <a:latin typeface="Calibri"/>
              </a:rPr>
              <a:t>Proposed Solution</a:t>
            </a:r>
          </a:p>
          <a:p>
            <a:pPr>
              <a:spcAft>
                <a:spcPts val="1400"/>
              </a:spcAft>
            </a:pPr>
            <a:r>
              <a:rPr b="1" i="0" sz="18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700">
                <a:solidFill>
                  <a:srgbClr val="1E293B"/>
                </a:solidFill>
                <a:latin typeface="Calibri"/>
              </a:rPr>
              <a:t>Project Planning &amp; Timeline</a:t>
            </a:r>
          </a:p>
          <a:p>
            <a:pPr>
              <a:spcAft>
                <a:spcPts val="1400"/>
              </a:spcAft>
            </a:pPr>
            <a:r>
              <a:rPr b="1" i="0" sz="18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700">
                <a:solidFill>
                  <a:srgbClr val="1E293B"/>
                </a:solidFill>
                <a:latin typeface="Calibri"/>
              </a:rPr>
              <a:t>Conclusion</a:t>
            </a:r>
          </a:p>
          <a:p>
            <a:pPr>
              <a:spcAft>
                <a:spcPts val="1400"/>
              </a:spcAft>
            </a:pPr>
            <a:r>
              <a:rPr b="1" i="0" sz="18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700">
                <a:solidFill>
                  <a:srgbClr val="1E293B"/>
                </a:solidFill>
                <a:latin typeface="Calibri"/>
              </a:rPr>
              <a:t>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01200" y="0"/>
            <a:ext cx="2590495" cy="6858000"/>
          </a:xfrm>
          <a:prstGeom prst="rtTriangle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10241280" y="1371600"/>
            <a:ext cx="1950415" cy="5486400"/>
          </a:xfrm>
          <a:prstGeom prst="rtTriangle">
            <a:avLst/>
          </a:prstGeom>
          <a:solidFill>
            <a:srgbClr val="A9D08E"/>
          </a:solidFill>
          <a:ln>
            <a:solidFill>
              <a:srgbClr val="A9D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5400000">
            <a:off x="10789920" y="2743200"/>
            <a:ext cx="1401775" cy="4114800"/>
          </a:xfrm>
          <a:prstGeom prst="rtTriangl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70AD47"/>
                </a:solidFill>
                <a:latin typeface="Calibri"/>
              </a:defRPr>
            </a:pPr>
            <a:r>
              <a:t>Introduction: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8686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i="0" sz="14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400">
                <a:solidFill>
                  <a:srgbClr val="375623"/>
                </a:solidFill>
                <a:latin typeface="Calibri"/>
              </a:rPr>
              <a:t>Institutional Context: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University campuses require fast, authenticated, and transparent dissemination of critical academic notices, examination timetables, fee circulars, and departmental events.</a:t>
            </a:r>
          </a:p>
          <a:p>
            <a:pPr>
              <a:spcAft>
                <a:spcPts val="1200"/>
              </a:spcAft>
            </a:pPr>
            <a:r>
              <a:rPr b="1" i="0" sz="14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400">
                <a:solidFill>
                  <a:srgbClr val="375623"/>
                </a:solidFill>
                <a:latin typeface="Calibri"/>
              </a:rPr>
              <a:t>Limitations of Legacy Systems: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Traditional physical notice boards and informal WhatsApp broadcast groups lead to notice loss, cognitive clutter, and complete absence of delivery verification.</a:t>
            </a:r>
          </a:p>
          <a:p>
            <a:pPr>
              <a:spcAft>
                <a:spcPts val="1200"/>
              </a:spcAft>
            </a:pPr>
            <a:r>
              <a:rPr b="1" i="0" sz="14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400">
                <a:solidFill>
                  <a:srgbClr val="375623"/>
                </a:solidFill>
                <a:latin typeface="Calibri"/>
              </a:rPr>
              <a:t>Need for Digital Centralization: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A single, authoritative digital notice board ensures official circulars reach every student, faculty member, and administrator without physical delays.</a:t>
            </a:r>
          </a:p>
          <a:p>
            <a:pPr>
              <a:spcAft>
                <a:spcPts val="1200"/>
              </a:spcAft>
            </a:pPr>
            <a:r>
              <a:rPr b="1" i="0" sz="14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400">
                <a:solidFill>
                  <a:srgbClr val="375623"/>
                </a:solidFill>
                <a:latin typeface="Calibri"/>
              </a:rPr>
              <a:t>Core Java SE 17 Engineering: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Developed as part of the Java Programming Laboratory to demonstrate real-world applications of Object-Oriented Programming (OOP), file streams, and security models.</a:t>
            </a:r>
          </a:p>
          <a:p>
            <a:pPr>
              <a:spcAft>
                <a:spcPts val="1200"/>
              </a:spcAft>
            </a:pPr>
            <a:r>
              <a:rPr b="1" i="0" sz="14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400">
                <a:solidFill>
                  <a:srgbClr val="375623"/>
                </a:solidFill>
                <a:latin typeface="Calibri"/>
              </a:rPr>
              <a:t>Target Stakeholders: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Specifically tailored for Department of Information Technology and administrative governance at Vasantdada Patil Pratishthan's College of Engineering &amp; Visual Arts.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01200" y="0"/>
            <a:ext cx="2590495" cy="6858000"/>
          </a:xfrm>
          <a:prstGeom prst="rtTriangle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10241280" y="1371600"/>
            <a:ext cx="1950415" cy="5486400"/>
          </a:xfrm>
          <a:prstGeom prst="rtTriangle">
            <a:avLst/>
          </a:prstGeom>
          <a:solidFill>
            <a:srgbClr val="A9D08E"/>
          </a:solidFill>
          <a:ln>
            <a:solidFill>
              <a:srgbClr val="A9D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5400000">
            <a:off x="10789920" y="2743200"/>
            <a:ext cx="1401775" cy="4114800"/>
          </a:xfrm>
          <a:prstGeom prst="rtTriangl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70AD47"/>
                </a:solidFill>
                <a:latin typeface="Calibri"/>
              </a:defRPr>
            </a:pPr>
            <a:r>
              <a:t>Problem Statement: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8686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i="0" sz="14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400">
                <a:solidFill>
                  <a:srgbClr val="375623"/>
                </a:solidFill>
                <a:latin typeface="Calibri"/>
              </a:rPr>
              <a:t>Physical Notice Board Bottlenecks: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Circulars get torn, misplaced, or buried under newer posters; students absent from campus miss urgent submission deadlines and academic announcements.</a:t>
            </a:r>
          </a:p>
          <a:p>
            <a:pPr>
              <a:spcAft>
                <a:spcPts val="1200"/>
              </a:spcAft>
            </a:pPr>
            <a:r>
              <a:rPr b="1" i="0" sz="14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400">
                <a:solidFill>
                  <a:srgbClr val="375623"/>
                </a:solidFill>
                <a:latin typeface="Calibri"/>
              </a:rPr>
              <a:t>Social Media Chaos &amp; Cognitive Fatigue: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WhatsApp and Telegram groups mix official circulars with informal chatter, memes, and non-academic media, leading to missed examination dates.</a:t>
            </a:r>
          </a:p>
          <a:p>
            <a:pPr>
              <a:spcAft>
                <a:spcPts val="1200"/>
              </a:spcAft>
            </a:pPr>
            <a:r>
              <a:rPr b="1" i="0" sz="14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400">
                <a:solidFill>
                  <a:srgbClr val="375623"/>
                </a:solidFill>
                <a:latin typeface="Calibri"/>
              </a:rPr>
              <a:t>Zero Proof of Delivery &amp; Acknowledgment: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Faculty and examination cells have no verifiable mechanism or digital logs to confirm whether targeted students actually read critical notices.</a:t>
            </a:r>
          </a:p>
          <a:p>
            <a:pPr>
              <a:spcAft>
                <a:spcPts val="1200"/>
              </a:spcAft>
            </a:pPr>
            <a:r>
              <a:rPr b="1" i="0" sz="14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400">
                <a:solidFill>
                  <a:srgbClr val="375623"/>
                </a:solidFill>
                <a:latin typeface="Calibri"/>
              </a:rPr>
              <a:t>Vulnerability to Fake Circulars &amp; Rumors: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Unofficial broadcast channels lack Role-Based Access Control (RBAC), leaving students susceptible to unverified exam cancellation rumors.</a:t>
            </a:r>
          </a:p>
          <a:p>
            <a:pPr>
              <a:spcAft>
                <a:spcPts val="1200"/>
              </a:spcAft>
            </a:pPr>
            <a:r>
              <a:rPr b="1" i="0" sz="14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400">
                <a:solidFill>
                  <a:srgbClr val="375623"/>
                </a:solidFill>
                <a:latin typeface="Calibri"/>
              </a:rPr>
              <a:t>Paper Waste &amp; High Operational Overhead: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High recurring paper printing costs, toner waste, and physical labor required to distribute and pin paper circulars across multiple campus buildings.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01200" y="0"/>
            <a:ext cx="2590495" cy="6858000"/>
          </a:xfrm>
          <a:prstGeom prst="rtTriangle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10241280" y="1371600"/>
            <a:ext cx="1950415" cy="5486400"/>
          </a:xfrm>
          <a:prstGeom prst="rtTriangle">
            <a:avLst/>
          </a:prstGeom>
          <a:solidFill>
            <a:srgbClr val="A9D08E"/>
          </a:solidFill>
          <a:ln>
            <a:solidFill>
              <a:srgbClr val="A9D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5400000">
            <a:off x="10789920" y="2743200"/>
            <a:ext cx="1401775" cy="4114800"/>
          </a:xfrm>
          <a:prstGeom prst="rtTriangl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70AD47"/>
                </a:solidFill>
                <a:latin typeface="Calibri"/>
              </a:defRPr>
            </a:pPr>
            <a:r>
              <a:t>Objectives: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8686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i="0" sz="135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350">
                <a:solidFill>
                  <a:srgbClr val="375623"/>
                </a:solidFill>
                <a:latin typeface="Calibri"/>
              </a:rPr>
              <a:t>Centralized Digital Notice Repository: </a:t>
            </a:r>
            <a:r>
              <a:rPr b="0" i="0" sz="1250">
                <a:solidFill>
                  <a:srgbClr val="1E293B"/>
                </a:solidFill>
                <a:latin typeface="Calibri"/>
              </a:rPr>
              <a:t>To build a single authoritative portal categorized by department (IT, Comps, Mech, Civil) and priority (Urgent, Normal).</a:t>
            </a:r>
          </a:p>
          <a:p>
            <a:pPr>
              <a:spcAft>
                <a:spcPts val="1000"/>
              </a:spcAft>
            </a:pPr>
            <a:r>
              <a:rPr b="1" i="0" sz="135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350">
                <a:solidFill>
                  <a:srgbClr val="375623"/>
                </a:solidFill>
                <a:latin typeface="Calibri"/>
              </a:rPr>
              <a:t>Implement Core Java OOP Architecture: </a:t>
            </a:r>
            <a:r>
              <a:rPr b="0" i="0" sz="1250">
                <a:solidFill>
                  <a:srgbClr val="1E293B"/>
                </a:solidFill>
                <a:latin typeface="Calibri"/>
              </a:rPr>
              <a:t>To apply Encapsulation, Inheritance, Polymorphism, and Interfaces (Notifiable, AuditLoggable) for robust, maintainable domain services.</a:t>
            </a:r>
          </a:p>
          <a:p>
            <a:pPr>
              <a:spcAft>
                <a:spcPts val="1000"/>
              </a:spcAft>
            </a:pPr>
            <a:r>
              <a:rPr b="1" i="0" sz="135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350">
                <a:solidFill>
                  <a:srgbClr val="375623"/>
                </a:solidFill>
                <a:latin typeface="Calibri"/>
              </a:rPr>
              <a:t>Enforce Role-Based Access Control (RBAC): </a:t>
            </a:r>
            <a:r>
              <a:rPr b="0" i="0" sz="1250">
                <a:solidFill>
                  <a:srgbClr val="1E293B"/>
                </a:solidFill>
                <a:latin typeface="Calibri"/>
              </a:rPr>
              <a:t>To establish a Zero-Access Security Wall restricting circular creation, editing, and deletion strictly to authenticated Super Admins and Faculty.</a:t>
            </a:r>
          </a:p>
          <a:p>
            <a:pPr>
              <a:spcAft>
                <a:spcPts val="1000"/>
              </a:spcAft>
            </a:pPr>
            <a:r>
              <a:rPr b="1" i="0" sz="135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350">
                <a:solidFill>
                  <a:srgbClr val="375623"/>
                </a:solidFill>
                <a:latin typeface="Calibri"/>
              </a:rPr>
              <a:t>Provide Verifiable Digital Acknowledgment: </a:t>
            </a:r>
            <a:r>
              <a:rPr b="0" i="0" sz="1250">
                <a:solidFill>
                  <a:srgbClr val="1E293B"/>
                </a:solidFill>
                <a:latin typeface="Calibri"/>
              </a:rPr>
              <a:t>To enable students to digitally acknowledge circulars with instant timestamped receipts for administrative audit records.</a:t>
            </a:r>
          </a:p>
          <a:p>
            <a:pPr>
              <a:spcAft>
                <a:spcPts val="1000"/>
              </a:spcAft>
            </a:pPr>
            <a:r>
              <a:rPr b="1" i="0" sz="135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350">
                <a:solidFill>
                  <a:srgbClr val="375623"/>
                </a:solidFill>
                <a:latin typeface="Calibri"/>
              </a:rPr>
              <a:t>Deliver Responsive &amp; Offline Accessibility: </a:t>
            </a:r>
            <a:r>
              <a:rPr b="0" i="0" sz="1250">
                <a:solidFill>
                  <a:srgbClr val="1E293B"/>
                </a:solidFill>
                <a:latin typeface="Calibri"/>
              </a:rPr>
              <a:t>To ensure 100% responsive user experience across mobile phones, tablets, and PCs with local caching during connectivity drops.</a:t>
            </a:r>
          </a:p>
          <a:p>
            <a:pPr>
              <a:spcAft>
                <a:spcPts val="1000"/>
              </a:spcAft>
            </a:pPr>
            <a:r>
              <a:rPr b="1" i="0" sz="135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350">
                <a:solidFill>
                  <a:srgbClr val="375623"/>
                </a:solidFill>
                <a:latin typeface="Calibri"/>
              </a:rPr>
              <a:t>Promote Green Campus Sustainability: </a:t>
            </a:r>
            <a:r>
              <a:rPr b="0" i="0" sz="1250">
                <a:solidFill>
                  <a:srgbClr val="1E293B"/>
                </a:solidFill>
                <a:latin typeface="Calibri"/>
              </a:rPr>
              <a:t>To eliminate paper dependency, advancing UN Sustainable Development Goals (SDG 9: Innovation, SDG 12: Responsible Consumption).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01200" y="0"/>
            <a:ext cx="2590495" cy="6858000"/>
          </a:xfrm>
          <a:prstGeom prst="rtTriangle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10241280" y="1371600"/>
            <a:ext cx="1950415" cy="5486400"/>
          </a:xfrm>
          <a:prstGeom prst="rtTriangle">
            <a:avLst/>
          </a:prstGeom>
          <a:solidFill>
            <a:srgbClr val="A9D08E"/>
          </a:solidFill>
          <a:ln>
            <a:solidFill>
              <a:srgbClr val="A9D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5400000">
            <a:off x="10789920" y="2743200"/>
            <a:ext cx="1401775" cy="4114800"/>
          </a:xfrm>
          <a:prstGeom prst="rtTriangl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70AD47"/>
                </a:solidFill>
                <a:latin typeface="Calibri"/>
              </a:defRPr>
            </a:pPr>
            <a:r>
              <a:t>Literature Survey: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93268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011680"/>
                <a:gridCol w="1188720"/>
                <a:gridCol w="1645920"/>
                <a:gridCol w="1828800"/>
                <a:gridCol w="2103120"/>
              </a:tblGrid>
              <a:tr h="950976"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1" i="0" sz="1000">
                          <a:solidFill>
                            <a:srgbClr val="FFFFFF"/>
                          </a:solidFill>
                          <a:latin typeface="Calibri"/>
                        </a:rPr>
                        <a:t>Sr.
No.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1" i="0" sz="1000">
                          <a:solidFill>
                            <a:srgbClr val="FFFFFF"/>
                          </a:solidFill>
                          <a:latin typeface="Calibri"/>
                        </a:rPr>
                        <a:t>Title: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1" i="0" sz="1000">
                          <a:solidFill>
                            <a:srgbClr val="FFFFFF"/>
                          </a:solidFill>
                          <a:latin typeface="Calibri"/>
                        </a:rPr>
                        <a:t>Publication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1" i="0" sz="1000">
                          <a:solidFill>
                            <a:srgbClr val="FFFFFF"/>
                          </a:solidFill>
                          <a:latin typeface="Calibri"/>
                        </a:rPr>
                        <a:t>Author &amp;
Year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1" i="0" sz="1000">
                          <a:solidFill>
                            <a:srgbClr val="FFFFFF"/>
                          </a:solidFill>
                          <a:latin typeface="Calibri"/>
                        </a:rPr>
                        <a:t>Methodology: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1" i="0" sz="1000">
                          <a:solidFill>
                            <a:srgbClr val="FFFFFF"/>
                          </a:solidFill>
                          <a:latin typeface="Calibri"/>
                        </a:rPr>
                        <a:t>Key
Findings: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</a:tr>
              <a:tr h="950976"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0" i="0" sz="950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0" i="0" sz="950">
                          <a:solidFill>
                            <a:srgbClr val="1E293B"/>
                          </a:solidFill>
                          <a:latin typeface="Calibri"/>
                        </a:rPr>
                        <a:t>Digital Campus Information Dissemination Systems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0" i="0" sz="950">
                          <a:solidFill>
                            <a:srgbClr val="1E293B"/>
                          </a:solidFill>
                          <a:latin typeface="Calibri"/>
                        </a:rPr>
                        <a:t>IEEE Access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0" i="0" sz="950">
                          <a:solidFill>
                            <a:srgbClr val="1E293B"/>
                          </a:solidFill>
                          <a:latin typeface="Calibri"/>
                        </a:rPr>
                        <a:t>R. Sharma et al.
(2021)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0" i="0" sz="950">
                          <a:solidFill>
                            <a:srgbClr val="1E293B"/>
                          </a:solidFill>
                          <a:latin typeface="Calibri"/>
                        </a:rPr>
                        <a:t>Centralized push notification broker using message queues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0" i="0" sz="950">
                          <a:solidFill>
                            <a:srgbClr val="1E293B"/>
                          </a:solidFill>
                          <a:latin typeface="Calibri"/>
                        </a:rPr>
                        <a:t>High delivery rate across networks, but lacked role-based publishing controls and offline fallback.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</a:tr>
              <a:tr h="950976"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0" i="0" sz="950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2F8E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0" i="0" sz="950">
                          <a:solidFill>
                            <a:srgbClr val="1E293B"/>
                          </a:solidFill>
                          <a:latin typeface="Calibri"/>
                        </a:rPr>
                        <a:t>Smart Notice Board using IoT Cloud Services</a:t>
                      </a:r>
                    </a:p>
                  </a:txBody>
                  <a:tcPr anchor="ctr">
                    <a:solidFill>
                      <a:srgbClr val="F2F8E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0" i="0" sz="950">
                          <a:solidFill>
                            <a:srgbClr val="1E293B"/>
                          </a:solidFill>
                          <a:latin typeface="Calibri"/>
                        </a:rPr>
                        <a:t>IJERT</a:t>
                      </a:r>
                    </a:p>
                  </a:txBody>
                  <a:tcPr anchor="ctr">
                    <a:solidFill>
                      <a:srgbClr val="F2F8E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0" i="0" sz="950">
                          <a:solidFill>
                            <a:srgbClr val="1E293B"/>
                          </a:solidFill>
                          <a:latin typeface="Calibri"/>
                        </a:rPr>
                        <a:t>P. Patel &amp;
S. Deshmukh (2022)</a:t>
                      </a:r>
                    </a:p>
                  </a:txBody>
                  <a:tcPr anchor="ctr">
                    <a:solidFill>
                      <a:srgbClr val="F2F8E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0" i="0" sz="950">
                          <a:solidFill>
                            <a:srgbClr val="1E293B"/>
                          </a:solidFill>
                          <a:latin typeface="Calibri"/>
                        </a:rPr>
                        <a:t>Raspberry Pi &amp; LCD digital display displays</a:t>
                      </a:r>
                    </a:p>
                  </a:txBody>
                  <a:tcPr anchor="ctr">
                    <a:solidFill>
                      <a:srgbClr val="F2F8E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0" i="0" sz="950">
                          <a:solidFill>
                            <a:srgbClr val="1E293B"/>
                          </a:solidFill>
                          <a:latin typeface="Calibri"/>
                        </a:rPr>
                        <a:t>Reduced paper waste, but required expensive on-campus physical hardware; inaccessible remotely.</a:t>
                      </a:r>
                    </a:p>
                  </a:txBody>
                  <a:tcPr anchor="ctr">
                    <a:solidFill>
                      <a:srgbClr val="F2F8EE"/>
                    </a:solidFill>
                  </a:tcPr>
                </a:tc>
              </a:tr>
              <a:tr h="950976"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0" i="0" sz="950">
                          <a:solidFill>
                            <a:srgbClr val="1E293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0" i="0" sz="950">
                          <a:solidFill>
                            <a:srgbClr val="1E293B"/>
                          </a:solidFill>
                          <a:latin typeface="Calibri"/>
                        </a:rPr>
                        <a:t>Role-Based Information Management in Higher Ed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0" i="0" sz="950">
                          <a:solidFill>
                            <a:srgbClr val="1E293B"/>
                          </a:solidFill>
                          <a:latin typeface="Calibri"/>
                        </a:rPr>
                        <a:t>Springer CS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0" i="0" sz="950">
                          <a:solidFill>
                            <a:srgbClr val="1E293B"/>
                          </a:solidFill>
                          <a:latin typeface="Calibri"/>
                        </a:rPr>
                        <a:t>A. Gupta &amp;
K. Rao (2023)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0" i="0" sz="950">
                          <a:solidFill>
                            <a:srgbClr val="1E293B"/>
                          </a:solidFill>
                          <a:latin typeface="Calibri"/>
                        </a:rPr>
                        <a:t>Multi-tier RBAC with relational access models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0" i="0" sz="950">
                          <a:solidFill>
                            <a:srgbClr val="1E293B"/>
                          </a:solidFill>
                          <a:latin typeface="Calibri"/>
                        </a:rPr>
                        <a:t>Proved security benefits of role boundaries, but lacked client-side caching and acknowledgment receipts.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</a:tr>
              <a:tr h="950976"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0" i="0" sz="950">
                          <a:solidFill>
                            <a:srgbClr val="1E293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2F8E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0" i="0" sz="950">
                          <a:solidFill>
                            <a:srgbClr val="1E293B"/>
                          </a:solidFill>
                          <a:latin typeface="Calibri"/>
                        </a:rPr>
                        <a:t>Campus Communication Bottlenecks in Higher Education</a:t>
                      </a:r>
                    </a:p>
                  </a:txBody>
                  <a:tcPr anchor="ctr">
                    <a:solidFill>
                      <a:srgbClr val="F2F8E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0" i="0" sz="950">
                          <a:solidFill>
                            <a:srgbClr val="1E293B"/>
                          </a:solidFill>
                          <a:latin typeface="Calibri"/>
                        </a:rPr>
                        <a:t>Elsevier CIE</a:t>
                      </a:r>
                    </a:p>
                  </a:txBody>
                  <a:tcPr anchor="ctr">
                    <a:solidFill>
                      <a:srgbClr val="F2F8E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0" i="0" sz="950">
                          <a:solidFill>
                            <a:srgbClr val="1E293B"/>
                          </a:solidFill>
                          <a:latin typeface="Calibri"/>
                        </a:rPr>
                        <a:t>M. Fernandez et al.
(2024)</a:t>
                      </a:r>
                    </a:p>
                  </a:txBody>
                  <a:tcPr anchor="ctr">
                    <a:solidFill>
                      <a:srgbClr val="F2F8E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0" i="0" sz="950">
                          <a:solidFill>
                            <a:srgbClr val="1E293B"/>
                          </a:solidFill>
                          <a:latin typeface="Calibri"/>
                        </a:rPr>
                        <a:t>Empirical survey across 12 university campuses</a:t>
                      </a:r>
                    </a:p>
                  </a:txBody>
                  <a:tcPr anchor="ctr">
                    <a:solidFill>
                      <a:srgbClr val="F2F8E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0" i="0" sz="950">
                          <a:solidFill>
                            <a:srgbClr val="1E293B"/>
                          </a:solidFill>
                          <a:latin typeface="Calibri"/>
                        </a:rPr>
                        <a:t>68% of surveyed students missed critical deadlines due to unverified social media broadcast groups.</a:t>
                      </a:r>
                    </a:p>
                  </a:txBody>
                  <a:tcPr anchor="ctr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01200" y="0"/>
            <a:ext cx="2590495" cy="6858000"/>
          </a:xfrm>
          <a:prstGeom prst="rtTriangle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10241280" y="1371600"/>
            <a:ext cx="1950415" cy="5486400"/>
          </a:xfrm>
          <a:prstGeom prst="rtTriangle">
            <a:avLst/>
          </a:prstGeom>
          <a:solidFill>
            <a:srgbClr val="A9D08E"/>
          </a:solidFill>
          <a:ln>
            <a:solidFill>
              <a:srgbClr val="A9D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5400000">
            <a:off x="10789920" y="2743200"/>
            <a:ext cx="1401775" cy="4114800"/>
          </a:xfrm>
          <a:prstGeom prst="rtTriangl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70AD47"/>
                </a:solidFill>
                <a:latin typeface="Calibri"/>
              </a:defRPr>
            </a:pPr>
            <a:r>
              <a:t>Research Gap: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8686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i="0" sz="14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400">
                <a:solidFill>
                  <a:srgbClr val="375623"/>
                </a:solidFill>
                <a:latin typeface="Calibri"/>
              </a:rPr>
              <a:t>Lack of Strict Role-Based Publishing: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Existing communication channels either permit unrestricted student posting (leading to spam and rumors) or rely on complex enterprise ERPs that lack agile customization for college departments.</a:t>
            </a:r>
          </a:p>
          <a:p>
            <a:pPr>
              <a:spcAft>
                <a:spcPts val="1200"/>
              </a:spcAft>
            </a:pPr>
            <a:r>
              <a:rPr b="1" i="0" sz="14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400">
                <a:solidFill>
                  <a:srgbClr val="375623"/>
                </a:solidFill>
                <a:latin typeface="Calibri"/>
              </a:rPr>
              <a:t>Absence of Verifiable Acknowledgment Receipts: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Current digital bulletin boards passively broadcast notices without recording timestamped student delivery acknowledgments, leaving faculty uncertain about message penetration.</a:t>
            </a:r>
          </a:p>
          <a:p>
            <a:pPr>
              <a:spcAft>
                <a:spcPts val="1200"/>
              </a:spcAft>
            </a:pPr>
            <a:r>
              <a:rPr b="1" i="0" sz="14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400">
                <a:solidFill>
                  <a:srgbClr val="375623"/>
                </a:solidFill>
                <a:latin typeface="Calibri"/>
              </a:rPr>
              <a:t>Physical Hardware Dependency: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Existing smart notice boards require expensive LCD/LED hallway displays, failing to deliver notices directly into students' pockets on their personal mobile devices.</a:t>
            </a:r>
          </a:p>
          <a:p>
            <a:pPr>
              <a:spcAft>
                <a:spcPts val="1200"/>
              </a:spcAft>
            </a:pPr>
            <a:r>
              <a:rPr b="1" i="0" sz="14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400">
                <a:solidFill>
                  <a:srgbClr val="375623"/>
                </a:solidFill>
                <a:latin typeface="Calibri"/>
              </a:rPr>
              <a:t>Zero Offline Fault Tolerance: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Most campus web portals fail completely when on-campus Wi-Fi disconnects; lack of local client-side caching prevents students from viewing previously loaded circulars.</a:t>
            </a:r>
          </a:p>
          <a:p>
            <a:pPr>
              <a:spcAft>
                <a:spcPts val="1200"/>
              </a:spcAft>
            </a:pPr>
            <a:r>
              <a:rPr b="1" i="0" sz="14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400">
                <a:solidFill>
                  <a:srgbClr val="375623"/>
                </a:solidFill>
                <a:latin typeface="Calibri"/>
              </a:rPr>
              <a:t>Fragmented Priority &amp; Category Routing: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Absence of structured priority filtering (Urgent vs. General) causes life-critical exam postponement alerts to be lost within routine club notices.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01200" y="0"/>
            <a:ext cx="2590495" cy="6858000"/>
          </a:xfrm>
          <a:prstGeom prst="rtTriangle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10241280" y="1371600"/>
            <a:ext cx="1950415" cy="5486400"/>
          </a:xfrm>
          <a:prstGeom prst="rtTriangle">
            <a:avLst/>
          </a:prstGeom>
          <a:solidFill>
            <a:srgbClr val="A9D08E"/>
          </a:solidFill>
          <a:ln>
            <a:solidFill>
              <a:srgbClr val="A9D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5400000">
            <a:off x="10789920" y="2743200"/>
            <a:ext cx="1401775" cy="4114800"/>
          </a:xfrm>
          <a:prstGeom prst="rtTriangl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70AD47"/>
                </a:solidFill>
                <a:latin typeface="Calibri"/>
              </a:defRPr>
            </a:pPr>
            <a:r>
              <a:t>Proposed Solution: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8686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i="0" sz="135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350">
                <a:solidFill>
                  <a:srgbClr val="375623"/>
                </a:solidFill>
                <a:latin typeface="Calibri"/>
              </a:rPr>
              <a:t>Modular Core Java SE 17 Architecture: </a:t>
            </a:r>
            <a:r>
              <a:rPr b="0" i="0" sz="1250">
                <a:solidFill>
                  <a:srgbClr val="1E293B"/>
                </a:solidFill>
                <a:latin typeface="Calibri"/>
              </a:rPr>
              <a:t>Robust Model-View-Controller (MVC) design separating domain models (Notice, User), interfaces (Notifiable), and CLI / Web business logic.</a:t>
            </a:r>
          </a:p>
          <a:p>
            <a:pPr>
              <a:spcAft>
                <a:spcPts val="1000"/>
              </a:spcAft>
            </a:pPr>
            <a:r>
              <a:rPr b="1" i="0" sz="135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350">
                <a:solidFill>
                  <a:srgbClr val="375623"/>
                </a:solidFill>
                <a:latin typeface="Calibri"/>
              </a:rPr>
              <a:t>Zero-Access Authentication &amp; RBAC Gate: </a:t>
            </a:r>
            <a:r>
              <a:rPr b="0" i="0" sz="1250">
                <a:solidFill>
                  <a:srgbClr val="1E293B"/>
                </a:solidFill>
                <a:latin typeface="Calibri"/>
              </a:rPr>
              <a:t>Strict multi-tiered Role-Based Access Control ensuring circular creation, pinning, and deletion are restricted strictly to authenticated Super Admins and Faculty.</a:t>
            </a:r>
          </a:p>
          <a:p>
            <a:pPr>
              <a:spcAft>
                <a:spcPts val="1000"/>
              </a:spcAft>
            </a:pPr>
            <a:r>
              <a:rPr b="1" i="0" sz="135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350">
                <a:solidFill>
                  <a:srgbClr val="375623"/>
                </a:solidFill>
                <a:latin typeface="Calibri"/>
              </a:rPr>
              <a:t>Dynamic Department &amp; Priority Routing: </a:t>
            </a:r>
            <a:r>
              <a:rPr b="0" i="0" sz="1250">
                <a:solidFill>
                  <a:srgbClr val="1E293B"/>
                </a:solidFill>
                <a:latin typeface="Calibri"/>
              </a:rPr>
              <a:t>Instant categorization across departments (IT, Comps, Mech, Civil) and priority badges (Urgent, Normal) with sub-5ms render latency.</a:t>
            </a:r>
          </a:p>
          <a:p>
            <a:pPr>
              <a:spcAft>
                <a:spcPts val="1000"/>
              </a:spcAft>
            </a:pPr>
            <a:r>
              <a:rPr b="1" i="0" sz="135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350">
                <a:solidFill>
                  <a:srgbClr val="375623"/>
                </a:solidFill>
                <a:latin typeface="Calibri"/>
              </a:rPr>
              <a:t>Verifiable Digital Acknowledgment Engine: </a:t>
            </a:r>
            <a:r>
              <a:rPr b="0" i="0" sz="1250">
                <a:solidFill>
                  <a:srgbClr val="1E293B"/>
                </a:solidFill>
                <a:latin typeface="Calibri"/>
              </a:rPr>
              <a:t>One-click student acknowledgment recording verified digital receipts for examination and placement compliance audit records.</a:t>
            </a:r>
          </a:p>
          <a:p>
            <a:pPr>
              <a:spcAft>
                <a:spcPts val="1000"/>
              </a:spcAft>
            </a:pPr>
            <a:r>
              <a:rPr b="1" i="0" sz="135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350">
                <a:solidFill>
                  <a:srgbClr val="375623"/>
                </a:solidFill>
                <a:latin typeface="Calibri"/>
              </a:rPr>
              <a:t>Dual-Tier Persistent Storage: </a:t>
            </a:r>
            <a:r>
              <a:rPr b="0" i="0" sz="1250">
                <a:solidFill>
                  <a:srgbClr val="1E293B"/>
                </a:solidFill>
                <a:latin typeface="Calibri"/>
              </a:rPr>
              <a:t>Seamless integration combining real-time cloud data storage with local offline-first storage (localStorage) for uninterrupted offline resiliency.</a:t>
            </a:r>
          </a:p>
          <a:p>
            <a:pPr>
              <a:spcAft>
                <a:spcPts val="1000"/>
              </a:spcAft>
            </a:pPr>
            <a:r>
              <a:rPr b="1" i="0" sz="135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350">
                <a:solidFill>
                  <a:srgbClr val="375623"/>
                </a:solidFill>
                <a:latin typeface="Calibri"/>
              </a:rPr>
              <a:t>Cross-Device Responsive Web Client: </a:t>
            </a:r>
            <a:r>
              <a:rPr b="0" i="0" sz="1250">
                <a:solidFill>
                  <a:srgbClr val="1E293B"/>
                </a:solidFill>
                <a:latin typeface="Calibri"/>
              </a:rPr>
              <a:t>Clean, responsive portal optimized for all smartphones, tablets, and desktop workstations with zero visual clipping or hidden actions.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01200" y="0"/>
            <a:ext cx="2590495" cy="6858000"/>
          </a:xfrm>
          <a:prstGeom prst="rtTriangle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10241280" y="1371600"/>
            <a:ext cx="1950415" cy="5486400"/>
          </a:xfrm>
          <a:prstGeom prst="rtTriangle">
            <a:avLst/>
          </a:prstGeom>
          <a:solidFill>
            <a:srgbClr val="A9D08E"/>
          </a:solidFill>
          <a:ln>
            <a:solidFill>
              <a:srgbClr val="A9D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5400000">
            <a:off x="10789920" y="2743200"/>
            <a:ext cx="1401775" cy="4114800"/>
          </a:xfrm>
          <a:prstGeom prst="rtTriangl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70AD47"/>
                </a:solidFill>
                <a:latin typeface="Calibri"/>
              </a:defRPr>
            </a:pPr>
            <a:r>
              <a:t>Project Planning &amp; Timeline: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93268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4114800"/>
                <a:gridCol w="1371600"/>
              </a:tblGrid>
              <a:tr h="679268"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1" i="0" sz="1100">
                          <a:solidFill>
                            <a:srgbClr val="FFFFFF"/>
                          </a:solidFill>
                          <a:latin typeface="Calibri"/>
                        </a:rPr>
                        <a:t>Week / Duration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1" i="0" sz="1100">
                          <a:solidFill>
                            <a:srgbClr val="FFFFFF"/>
                          </a:solidFill>
                          <a:latin typeface="Calibri"/>
                        </a:rPr>
                        <a:t>Phase Name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1" i="0" sz="1100">
                          <a:solidFill>
                            <a:srgbClr val="FFFFFF"/>
                          </a:solidFill>
                          <a:latin typeface="Calibri"/>
                        </a:rPr>
                        <a:t>Key Tasks &amp; Milestones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1" i="0" sz="110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</a:tr>
              <a:tr h="679268"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0" i="0" sz="1000">
                          <a:solidFill>
                            <a:srgbClr val="1E293B"/>
                          </a:solidFill>
                          <a:latin typeface="Calibri"/>
                        </a:rPr>
                        <a:t>Weeks 1–2 (July 2025)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0" i="0" sz="1000">
                          <a:solidFill>
                            <a:srgbClr val="1E293B"/>
                          </a:solidFill>
                          <a:latin typeface="Calibri"/>
                        </a:rPr>
                        <a:t>Need Identification &amp; SRS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0" i="0" sz="1000">
                          <a:solidFill>
                            <a:srgbClr val="1E293B"/>
                          </a:solidFill>
                          <a:latin typeface="Calibri"/>
                        </a:rPr>
                        <a:t>Problem definition, literature survey, stakeholder requirement gathering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1" i="0" sz="1000">
                          <a:solidFill>
                            <a:srgbClr val="375623"/>
                          </a:solidFill>
                          <a:latin typeface="Calibri"/>
                        </a:rPr>
                        <a:t>Completed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</a:tr>
              <a:tr h="679268"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0" i="0" sz="1000">
                          <a:solidFill>
                            <a:srgbClr val="1E293B"/>
                          </a:solidFill>
                          <a:latin typeface="Calibri"/>
                        </a:rPr>
                        <a:t>Weeks 3–4 (Aug 2025)</a:t>
                      </a:r>
                    </a:p>
                  </a:txBody>
                  <a:tcPr anchor="ctr">
                    <a:solidFill>
                      <a:srgbClr val="F2F8E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0" i="0" sz="1000">
                          <a:solidFill>
                            <a:srgbClr val="1E293B"/>
                          </a:solidFill>
                          <a:latin typeface="Calibri"/>
                        </a:rPr>
                        <a:t>Literature Survey &amp; Design</a:t>
                      </a:r>
                    </a:p>
                  </a:txBody>
                  <a:tcPr anchor="ctr">
                    <a:solidFill>
                      <a:srgbClr val="F2F8E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0" i="0" sz="1000">
                          <a:solidFill>
                            <a:srgbClr val="1E293B"/>
                          </a:solidFill>
                          <a:latin typeface="Calibri"/>
                        </a:rPr>
                        <a:t>Comparative study, UML diagrams (Class, Use Case, Sequence), OOP modeling</a:t>
                      </a:r>
                    </a:p>
                  </a:txBody>
                  <a:tcPr anchor="ctr">
                    <a:solidFill>
                      <a:srgbClr val="F2F8E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1" i="0" sz="1000">
                          <a:solidFill>
                            <a:srgbClr val="375623"/>
                          </a:solidFill>
                          <a:latin typeface="Calibri"/>
                        </a:rPr>
                        <a:t>Completed</a:t>
                      </a:r>
                    </a:p>
                  </a:txBody>
                  <a:tcPr anchor="ctr">
                    <a:solidFill>
                      <a:srgbClr val="F2F8EE"/>
                    </a:solidFill>
                  </a:tcPr>
                </a:tc>
              </a:tr>
              <a:tr h="679268"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0" i="0" sz="1000">
                          <a:solidFill>
                            <a:srgbClr val="1E293B"/>
                          </a:solidFill>
                          <a:latin typeface="Calibri"/>
                        </a:rPr>
                        <a:t>Weeks 5–7 (Aug–Sep 2025)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0" i="0" sz="1000">
                          <a:solidFill>
                            <a:srgbClr val="1E293B"/>
                          </a:solidFill>
                          <a:latin typeface="Calibri"/>
                        </a:rPr>
                        <a:t>Core Java OOP Modules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0" i="0" sz="1000">
                          <a:solidFill>
                            <a:srgbClr val="1E293B"/>
                          </a:solidFill>
                          <a:latin typeface="Calibri"/>
                        </a:rPr>
                        <a:t>Implementing Notice, User, NotificationService, inheritance &amp; interfaces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1" i="0" sz="1000">
                          <a:solidFill>
                            <a:srgbClr val="375623"/>
                          </a:solidFill>
                          <a:latin typeface="Calibri"/>
                        </a:rPr>
                        <a:t>Completed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</a:tr>
              <a:tr h="679268"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0" i="0" sz="1000">
                          <a:solidFill>
                            <a:srgbClr val="1E293B"/>
                          </a:solidFill>
                          <a:latin typeface="Calibri"/>
                        </a:rPr>
                        <a:t>Weeks 8–9 (Sep 2025)</a:t>
                      </a:r>
                    </a:p>
                  </a:txBody>
                  <a:tcPr anchor="ctr">
                    <a:solidFill>
                      <a:srgbClr val="F2F8E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0" i="0" sz="1000">
                          <a:solidFill>
                            <a:srgbClr val="1E293B"/>
                          </a:solidFill>
                          <a:latin typeface="Calibri"/>
                        </a:rPr>
                        <a:t>Web Client &amp; Cloud Sync</a:t>
                      </a:r>
                    </a:p>
                  </a:txBody>
                  <a:tcPr anchor="ctr">
                    <a:solidFill>
                      <a:srgbClr val="F2F8E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0" i="0" sz="1000">
                          <a:solidFill>
                            <a:srgbClr val="1E293B"/>
                          </a:solidFill>
                          <a:latin typeface="Calibri"/>
                        </a:rPr>
                        <a:t>Responsive dashboard, Firebase cloud sync, RBAC Zero-Access Wall</a:t>
                      </a:r>
                    </a:p>
                  </a:txBody>
                  <a:tcPr anchor="ctr">
                    <a:solidFill>
                      <a:srgbClr val="F2F8E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1" i="0" sz="1000">
                          <a:solidFill>
                            <a:srgbClr val="375623"/>
                          </a:solidFill>
                          <a:latin typeface="Calibri"/>
                        </a:rPr>
                        <a:t>Completed</a:t>
                      </a:r>
                    </a:p>
                  </a:txBody>
                  <a:tcPr anchor="ctr">
                    <a:solidFill>
                      <a:srgbClr val="F2F8EE"/>
                    </a:solidFill>
                  </a:tcPr>
                </a:tc>
              </a:tr>
              <a:tr h="679268"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0" i="0" sz="1000">
                          <a:solidFill>
                            <a:srgbClr val="1E293B"/>
                          </a:solidFill>
                          <a:latin typeface="Calibri"/>
                        </a:rPr>
                        <a:t>Weeks 10–11 (Oct 2025)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0" i="0" sz="1000">
                          <a:solidFill>
                            <a:srgbClr val="1E293B"/>
                          </a:solidFill>
                          <a:latin typeface="Calibri"/>
                        </a:rPr>
                        <a:t>Testing &amp; Verification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0" i="0" sz="1000">
                          <a:solidFill>
                            <a:srgbClr val="1E293B"/>
                          </a:solidFill>
                          <a:latin typeface="Calibri"/>
                        </a:rPr>
                        <a:t>92 Automated test suite execution, stress testing, edge-case fixes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1" i="0" sz="1000">
                          <a:solidFill>
                            <a:srgbClr val="375623"/>
                          </a:solidFill>
                          <a:latin typeface="Calibri"/>
                        </a:rPr>
                        <a:t>Completed</a:t>
                      </a:r>
                    </a:p>
                  </a:txBody>
                  <a:tcPr anchor="ctr">
                    <a:solidFill>
                      <a:srgbClr val="E2EFDA"/>
                    </a:solidFill>
                  </a:tcPr>
                </a:tc>
              </a:tr>
              <a:tr h="679272"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0" i="0" sz="1000">
                          <a:solidFill>
                            <a:srgbClr val="1E293B"/>
                          </a:solidFill>
                          <a:latin typeface="Calibri"/>
                        </a:rPr>
                        <a:t>Weeks 12–13 (Oct 2025)</a:t>
                      </a:r>
                    </a:p>
                  </a:txBody>
                  <a:tcPr anchor="ctr">
                    <a:solidFill>
                      <a:srgbClr val="F2F8E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0" i="0" sz="1000">
                          <a:solidFill>
                            <a:srgbClr val="1E293B"/>
                          </a:solidFill>
                          <a:latin typeface="Calibri"/>
                        </a:rPr>
                        <a:t>Documentation &amp; Review</a:t>
                      </a:r>
                    </a:p>
                  </a:txBody>
                  <a:tcPr anchor="ctr">
                    <a:solidFill>
                      <a:srgbClr val="F2F8E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l"/>
                      <a:r>
                        <a:rPr b="0" i="0" sz="1000">
                          <a:solidFill>
                            <a:srgbClr val="1E293B"/>
                          </a:solidFill>
                          <a:latin typeface="Calibri"/>
                        </a:rPr>
                        <a:t>Report generation, logbook compilation, review presentation submission</a:t>
                      </a:r>
                    </a:p>
                  </a:txBody>
                  <a:tcPr anchor="ctr">
                    <a:solidFill>
                      <a:srgbClr val="F2F8E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 algn="ctr"/>
                      <a:r>
                        <a:rPr b="1" i="0" sz="1000">
                          <a:solidFill>
                            <a:srgbClr val="375623"/>
                          </a:solidFill>
                          <a:latin typeface="Calibri"/>
                        </a:rPr>
                        <a:t>Completed</a:t>
                      </a:r>
                    </a:p>
                  </a:txBody>
                  <a:tcPr anchor="ctr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01200" y="0"/>
            <a:ext cx="2590495" cy="6858000"/>
          </a:xfrm>
          <a:prstGeom prst="rtTriangle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10241280" y="1371600"/>
            <a:ext cx="1950415" cy="5486400"/>
          </a:xfrm>
          <a:prstGeom prst="rtTriangle">
            <a:avLst/>
          </a:prstGeom>
          <a:solidFill>
            <a:srgbClr val="A9D08E"/>
          </a:solidFill>
          <a:ln>
            <a:solidFill>
              <a:srgbClr val="A9D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5400000">
            <a:off x="10789920" y="2743200"/>
            <a:ext cx="1401775" cy="4114800"/>
          </a:xfrm>
          <a:prstGeom prst="rtTriangl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70AD47"/>
                </a:solidFill>
                <a:latin typeface="Calibri"/>
              </a:defRPr>
            </a:pPr>
            <a:r>
              <a:t>Conclusion: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8686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i="0" sz="14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400">
                <a:solidFill>
                  <a:srgbClr val="375623"/>
                </a:solidFill>
                <a:latin typeface="Calibri"/>
              </a:rPr>
              <a:t>Successful Academic &amp; Technical Delivery: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Campus Notify successfully bridges the gap between academic theory and practical software engineering using Core Java SE 17 object-oriented paradigms.</a:t>
            </a:r>
          </a:p>
          <a:p>
            <a:pPr>
              <a:spcAft>
                <a:spcPts val="1200"/>
              </a:spcAft>
            </a:pPr>
            <a:r>
              <a:rPr b="1" i="0" sz="14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400">
                <a:solidFill>
                  <a:srgbClr val="375623"/>
                </a:solidFill>
                <a:latin typeface="Calibri"/>
              </a:rPr>
              <a:t>Elimination of Communication Bottlenecks: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Replaced fragmented physical notice boards and chaotic WhatsApp groups with a structured, instant, and searchable institutional platform.</a:t>
            </a:r>
          </a:p>
          <a:p>
            <a:pPr>
              <a:spcAft>
                <a:spcPts val="1200"/>
              </a:spcAft>
            </a:pPr>
            <a:r>
              <a:rPr b="1" i="0" sz="14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400">
                <a:solidFill>
                  <a:srgbClr val="375623"/>
                </a:solidFill>
                <a:latin typeface="Calibri"/>
              </a:rPr>
              <a:t>Administrative Governance &amp; Transparency: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Enforced strict Role-Based Access Control and verifiable digital acknowledgment receipts, completely eliminating lost circular disputes.</a:t>
            </a:r>
          </a:p>
          <a:p>
            <a:pPr>
              <a:spcAft>
                <a:spcPts val="1200"/>
              </a:spcAft>
            </a:pPr>
            <a:r>
              <a:rPr b="1" i="0" sz="14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400">
                <a:solidFill>
                  <a:srgbClr val="375623"/>
                </a:solidFill>
                <a:latin typeface="Calibri"/>
              </a:rPr>
              <a:t>Environmental Sustainability (Green Campus):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Significantly reduces physical paper printing, toner consumption, and operational costs, aligning directly with UN Sustainable Development Goals (SDG 9 &amp; SDG 12).</a:t>
            </a:r>
          </a:p>
          <a:p>
            <a:pPr>
              <a:spcAft>
                <a:spcPts val="1200"/>
              </a:spcAft>
            </a:pPr>
            <a:r>
              <a:rPr b="1" i="0" sz="1400">
                <a:solidFill>
                  <a:srgbClr val="70AD47"/>
                </a:solidFill>
                <a:latin typeface="Calibri"/>
              </a:rPr>
              <a:t>►  </a:t>
            </a:r>
            <a:r>
              <a:rPr b="1" i="0" sz="1400">
                <a:solidFill>
                  <a:srgbClr val="375623"/>
                </a:solidFill>
                <a:latin typeface="Calibri"/>
              </a:rPr>
              <a:t>Future Scope &amp; Roadmap: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Planned enhancements include native Android &amp; iOS push notifications via Firebase FCM, automated SMS parent alerts, and direct integration with institutional biometric ERP databases.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01200" y="0"/>
            <a:ext cx="2590495" cy="6858000"/>
          </a:xfrm>
          <a:prstGeom prst="rtTriangle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10241280" y="1371600"/>
            <a:ext cx="1950415" cy="5486400"/>
          </a:xfrm>
          <a:prstGeom prst="rtTriangle">
            <a:avLst/>
          </a:prstGeom>
          <a:solidFill>
            <a:srgbClr val="A9D08E"/>
          </a:solidFill>
          <a:ln>
            <a:solidFill>
              <a:srgbClr val="A9D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5400000">
            <a:off x="10789920" y="2743200"/>
            <a:ext cx="1401775" cy="4114800"/>
          </a:xfrm>
          <a:prstGeom prst="rtTriangl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70AD47"/>
                </a:solidFill>
                <a:latin typeface="Calibri"/>
              </a:defRPr>
            </a:pPr>
            <a:r>
              <a:t>References: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8686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i="0" sz="1200">
                <a:solidFill>
                  <a:srgbClr val="70AD47"/>
                </a:solidFill>
                <a:latin typeface="Calibri"/>
              </a:rPr>
              <a:t>►  </a:t>
            </a:r>
            <a:r>
              <a:rPr b="0" i="0" sz="1150">
                <a:solidFill>
                  <a:srgbClr val="1E293B"/>
                </a:solidFill>
                <a:latin typeface="Calibri"/>
              </a:rPr>
              <a:t>[1] R. Sharma, K. Patel, and S. Deshmukh, “Digital Campus Information Dissemination Systems,” IEEE Access, vol. 9, pp. 11200–11210, 2021.</a:t>
            </a:r>
          </a:p>
          <a:p>
            <a:pPr>
              <a:spcAft>
                <a:spcPts val="1000"/>
              </a:spcAft>
            </a:pPr>
            <a:r>
              <a:rPr b="1" i="0" sz="1200">
                <a:solidFill>
                  <a:srgbClr val="70AD47"/>
                </a:solidFill>
                <a:latin typeface="Calibri"/>
              </a:rPr>
              <a:t>►  </a:t>
            </a:r>
            <a:r>
              <a:rPr b="0" i="0" sz="1150">
                <a:solidFill>
                  <a:srgbClr val="1E293B"/>
                </a:solidFill>
                <a:latin typeface="Calibri"/>
              </a:rPr>
              <a:t>[2] P. Patel and S. Deshmukh, “Smart Notice Board using IoT Cloud Services,” International Journal of Engineering Research &amp; Technology (IJERT), vol. 11, no. 5, pp. 45–52, 2022.</a:t>
            </a:r>
          </a:p>
          <a:p>
            <a:pPr>
              <a:spcAft>
                <a:spcPts val="1000"/>
              </a:spcAft>
            </a:pPr>
            <a:r>
              <a:rPr b="1" i="0" sz="1200">
                <a:solidFill>
                  <a:srgbClr val="70AD47"/>
                </a:solidFill>
                <a:latin typeface="Calibri"/>
              </a:rPr>
              <a:t>►  </a:t>
            </a:r>
            <a:r>
              <a:rPr b="0" i="0" sz="1150">
                <a:solidFill>
                  <a:srgbClr val="1E293B"/>
                </a:solidFill>
                <a:latin typeface="Calibri"/>
              </a:rPr>
              <a:t>[3] A. Gupta and K. Rao, “Role-Based Information Management in Higher Education,” Springer Computer Science, vol. 48, pp. 210–225, 2023.</a:t>
            </a:r>
          </a:p>
          <a:p>
            <a:pPr>
              <a:spcAft>
                <a:spcPts val="1000"/>
              </a:spcAft>
            </a:pPr>
            <a:r>
              <a:rPr b="1" i="0" sz="1200">
                <a:solidFill>
                  <a:srgbClr val="70AD47"/>
                </a:solidFill>
                <a:latin typeface="Calibri"/>
              </a:rPr>
              <a:t>►  </a:t>
            </a:r>
            <a:r>
              <a:rPr b="0" i="0" sz="1150">
                <a:solidFill>
                  <a:srgbClr val="1E293B"/>
                </a:solidFill>
                <a:latin typeface="Calibri"/>
              </a:rPr>
              <a:t>[4] M. Fernandez, L. Gomez, and T. Silva, “Campus Communication Bottlenecks in Higher Education,” Elsevier Computers in Industry &amp; Education, vol. 38, pp. 102–115, 2024.</a:t>
            </a:r>
          </a:p>
          <a:p>
            <a:pPr>
              <a:spcAft>
                <a:spcPts val="1000"/>
              </a:spcAft>
            </a:pPr>
            <a:r>
              <a:rPr b="1" i="0" sz="1200">
                <a:solidFill>
                  <a:srgbClr val="70AD47"/>
                </a:solidFill>
                <a:latin typeface="Calibri"/>
              </a:rPr>
              <a:t>►  </a:t>
            </a:r>
            <a:r>
              <a:rPr b="0" i="0" sz="1150">
                <a:solidFill>
                  <a:srgbClr val="1E293B"/>
                </a:solidFill>
                <a:latin typeface="Calibri"/>
              </a:rPr>
              <a:t>[5] H. Schildt, Java: The Complete Reference, 12th ed., McGraw-Hill Education, 2021.</a:t>
            </a:r>
          </a:p>
          <a:p>
            <a:pPr>
              <a:spcAft>
                <a:spcPts val="1000"/>
              </a:spcAft>
            </a:pPr>
            <a:r>
              <a:rPr b="1" i="0" sz="1200">
                <a:solidFill>
                  <a:srgbClr val="70AD47"/>
                </a:solidFill>
                <a:latin typeface="Calibri"/>
              </a:rPr>
              <a:t>►  </a:t>
            </a:r>
            <a:r>
              <a:rPr b="0" i="0" sz="1150">
                <a:solidFill>
                  <a:srgbClr val="1E293B"/>
                </a:solidFill>
                <a:latin typeface="Calibri"/>
              </a:rPr>
              <a:t>[6] J. Bloch, Effective Java, 3rd ed., Addison-Wesley Professional, 2018.</a:t>
            </a:r>
          </a:p>
          <a:p>
            <a:pPr>
              <a:spcAft>
                <a:spcPts val="1000"/>
              </a:spcAft>
            </a:pPr>
            <a:r>
              <a:rPr b="1" i="0" sz="1200">
                <a:solidFill>
                  <a:srgbClr val="70AD47"/>
                </a:solidFill>
                <a:latin typeface="Calibri"/>
              </a:rPr>
              <a:t>►  </a:t>
            </a:r>
            <a:r>
              <a:rPr b="0" i="0" sz="1150">
                <a:solidFill>
                  <a:srgbClr val="1E293B"/>
                </a:solidFill>
                <a:latin typeface="Calibri"/>
              </a:rPr>
              <a:t>[7] University of Mumbai, Syllabus for Second Year Information Technology (Semester III &amp; IV), 2024–2025.</a:t>
            </a:r>
          </a:p>
          <a:p>
            <a:pPr>
              <a:spcAft>
                <a:spcPts val="1000"/>
              </a:spcAft>
            </a:pPr>
            <a:r>
              <a:rPr b="1" i="0" sz="1200">
                <a:solidFill>
                  <a:srgbClr val="70AD47"/>
                </a:solidFill>
                <a:latin typeface="Calibri"/>
              </a:rPr>
              <a:t>►  </a:t>
            </a:r>
            <a:r>
              <a:rPr b="0" i="0" sz="1150">
                <a:solidFill>
                  <a:srgbClr val="1E293B"/>
                </a:solidFill>
                <a:latin typeface="Calibri"/>
              </a:rPr>
              <a:t>[8] United Nations, Sustainable Development Goals Knowledge Platform, [Online]. Available: https://sdgs.un.org/goals.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xtracted_im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74320"/>
            <a:ext cx="7772400" cy="2450095"/>
          </a:xfrm>
          <a:prstGeom prst="rect">
            <a:avLst/>
          </a:prstGeom>
        </p:spPr>
      </p:pic>
      <p:sp>
        <p:nvSpPr>
          <p:cNvPr id="3" name="Right Triangle 2"/>
          <p:cNvSpPr/>
          <p:nvPr/>
        </p:nvSpPr>
        <p:spPr>
          <a:xfrm rot="10800000">
            <a:off x="9601200" y="0"/>
            <a:ext cx="2590495" cy="6858000"/>
          </a:xfrm>
          <a:prstGeom prst="rtTriangle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>
            <a:off x="10241280" y="1371600"/>
            <a:ext cx="1950415" cy="5486400"/>
          </a:xfrm>
          <a:prstGeom prst="rtTriangle">
            <a:avLst/>
          </a:prstGeom>
          <a:solidFill>
            <a:srgbClr val="A9D08E"/>
          </a:solidFill>
          <a:ln>
            <a:solidFill>
              <a:srgbClr val="A9D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Triangle 4"/>
          <p:cNvSpPr/>
          <p:nvPr/>
        </p:nvSpPr>
        <p:spPr>
          <a:xfrm rot="5400000">
            <a:off x="10789920" y="2743200"/>
            <a:ext cx="1401775" cy="4114800"/>
          </a:xfrm>
          <a:prstGeom prst="rtTriangl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8686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i="0" sz="3600">
                <a:solidFill>
                  <a:srgbClr val="70AD47"/>
                </a:solidFill>
                <a:latin typeface="Calibri"/>
              </a:rPr>
              <a:t>Thank You!</a:t>
            </a:r>
          </a:p>
          <a:p>
            <a:pPr>
              <a:spcAft>
                <a:spcPts val="2000"/>
              </a:spcAft>
            </a:pPr>
            <a:r>
              <a:rPr b="1" i="0" sz="2000">
                <a:solidFill>
                  <a:srgbClr val="375623"/>
                </a:solidFill>
                <a:latin typeface="Calibri"/>
              </a:rPr>
              <a:t>Any Questions or Suggestions?</a:t>
            </a:r>
          </a:p>
          <a:p>
            <a:pPr>
              <a:spcAft>
                <a:spcPts val="600"/>
              </a:spcAft>
            </a:pPr>
            <a:r>
              <a:rPr b="1" i="0" sz="1400">
                <a:solidFill>
                  <a:srgbClr val="1E293B"/>
                </a:solidFill>
                <a:latin typeface="Calibri"/>
              </a:rPr>
              <a:t>Team Members: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Pratik Atpadkar (VU4F2526072) | Harsh Tiwar (VU4F2526066) | Parth Gadadhe (VU4F2526062)</a:t>
            </a:r>
          </a:p>
          <a:p>
            <a:pPr>
              <a:spcAft>
                <a:spcPts val="600"/>
              </a:spcAft>
            </a:pPr>
            <a:r>
              <a:rPr b="1" i="0" sz="1400">
                <a:solidFill>
                  <a:srgbClr val="1E293B"/>
                </a:solidFill>
                <a:latin typeface="Calibri"/>
              </a:rPr>
              <a:t>Project Guide: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Prof. Sonali Kharat | </a:t>
            </a:r>
            <a:r>
              <a:rPr b="1" i="0" sz="1400">
                <a:solidFill>
                  <a:srgbClr val="1E293B"/>
                </a:solidFill>
                <a:latin typeface="Calibri"/>
              </a:rPr>
              <a:t>Head of Department: </a:t>
            </a:r>
            <a:r>
              <a:rPr b="0" i="0" sz="1300">
                <a:solidFill>
                  <a:srgbClr val="1E293B"/>
                </a:solidFill>
                <a:latin typeface="Calibri"/>
              </a:rPr>
              <a:t>Dr. Pradip Mane</a:t>
            </a:r>
          </a:p>
          <a:p>
            <a:pPr>
              <a:spcAft>
                <a:spcPts val="1400"/>
              </a:spcAft>
            </a:pPr>
            <a:r>
              <a:rPr b="0" i="1" sz="1200">
                <a:solidFill>
                  <a:srgbClr val="64748B"/>
                </a:solidFill>
                <a:latin typeface="Calibri"/>
              </a:rPr>
              <a:t>Department of Information Technology
Vasantdada Patil Pratishthan’s College of Engineering &amp; Visual Arts, Sion, Mumbai</a:t>
            </a:r>
          </a:p>
          <a:p>
            <a:r>
              <a:rPr b="1" i="0" sz="1200">
                <a:solidFill>
                  <a:srgbClr val="70AD47"/>
                </a:solidFill>
                <a:latin typeface="Calibri"/>
              </a:rPr>
              <a:t>Live Project Portal: </a:t>
            </a:r>
            <a:r>
              <a:rPr b="1" i="0" sz="1200">
                <a:solidFill>
                  <a:srgbClr val="375623"/>
                </a:solidFill>
                <a:latin typeface="Calibri"/>
              </a:rPr>
              <a:t>https://campnotify-eef91.web.app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