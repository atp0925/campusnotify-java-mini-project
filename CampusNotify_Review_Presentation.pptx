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tracted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"/>
            <a:ext cx="7772400" cy="2450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0AD47"/>
                </a:solidFill>
                <a:latin typeface="Calibri"/>
              </a:defRPr>
            </a:pPr>
            <a:r>
              <a:t>Campus Notify</a:t>
            </a:r>
          </a:p>
          <a:p>
            <a:pPr algn="ctr">
              <a:defRPr sz="2000" b="1">
                <a:solidFill>
                  <a:srgbClr val="375623"/>
                </a:solidFill>
                <a:latin typeface="Calibri"/>
              </a:defRPr>
            </a:pPr>
            <a:r>
              <a:t>Institutional Circular &amp; Announcement Management System</a:t>
            </a:r>
          </a:p>
          <a:p>
            <a:pPr algn="ctr">
              <a:defRPr sz="1300" i="1">
                <a:solidFill>
                  <a:srgbClr val="64748B"/>
                </a:solidFill>
                <a:latin typeface="Calibri"/>
              </a:defRPr>
            </a:pPr>
            <a:r>
              <a:t>A Modular Object-Oriented System in Core Java with File Persistence &amp; Cloud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Guide: Prof. Sonali Kharat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Team Details: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0" y="3977639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</a:tblGrid>
              <a:tr h="411480">
                <a:tc>
                  <a:txBody>
                    <a:bodyPr wrap="square" tIns="54864" bIns="54864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ID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Name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</a:tr>
              <a:tr h="411480">
                <a:tc>
                  <a:txBody>
                    <a:bodyPr wrap="square" tIns="54864" bIns="54864"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VU4F2526072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PRATIK ATPADKAR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411480">
                <a:tc>
                  <a:txBody>
                    <a:bodyPr wrap="square" tIns="54864" bIns="54864"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VU4F2526066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HARSH TIWAR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tIns="54864" bIns="54864"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VU4F2526062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PARTH GADADHE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852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Class: SE(IT) DIV :- A BATCH :- C | Academic Year: 2025–2026 | Department of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Table of Content: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8686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375623"/>
                </a:solidFill>
                <a:latin typeface="Calibri"/>
              </a:defRPr>
            </a:pPr>
            <a:r>
              <a:t>►  Introduction &amp; Academic Background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Problem Statement &amp; Current Bottlenecks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Objectives of the Project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Literature Survey (Comparative Matrix)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Research Gap &amp; System Innovation</a:t>
            </a:r>
          </a:p>
          <a:p>
            <a:pPr>
              <a:spcAft>
                <a:spcPts val="800"/>
              </a:spcAft>
              <a:defRPr sz="1550" b="1">
                <a:solidFill>
                  <a:srgbClr val="375623"/>
                </a:solidFill>
                <a:latin typeface="Calibri"/>
              </a:defRPr>
            </a:pPr>
            <a:r>
              <a:t>►  Proposed Solution &amp; MVC Architecture</a:t>
            </a:r>
          </a:p>
          <a:p>
            <a:pPr>
              <a:spcAft>
                <a:spcPts val="800"/>
              </a:spcAft>
              <a:defRPr sz="1550" b="1">
                <a:solidFill>
                  <a:srgbClr val="375623"/>
                </a:solidFill>
                <a:latin typeface="Calibri"/>
              </a:defRPr>
            </a:pPr>
            <a:r>
              <a:t>►  Core Java OOP Design &amp; Implementation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Web Dashboard, Real-time Sync &amp; Security Governance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Project Planning &amp; 13-Week Timeline</a:t>
            </a:r>
          </a:p>
          <a:p>
            <a:pPr>
              <a:spcAft>
                <a:spcPts val="800"/>
              </a:spcAft>
              <a:defRPr sz="1550" b="1">
                <a:solidFill>
                  <a:srgbClr val="375623"/>
                </a:solidFill>
                <a:latin typeface="Calibri"/>
              </a:defRPr>
            </a:pPr>
            <a:r>
              <a:t>►  Automated Testing &amp; Reliability Matrix (92 Tests)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Conclusion &amp; Societal Impact (SDG 4 &amp; SDG 9)</a:t>
            </a:r>
          </a:p>
          <a:p>
            <a:pPr>
              <a:spcAft>
                <a:spcPts val="800"/>
              </a:spcAft>
              <a:defRPr sz="1550" b="0">
                <a:solidFill>
                  <a:srgbClr val="1E293B"/>
                </a:solidFill>
                <a:latin typeface="Calibri"/>
              </a:defRPr>
            </a:pPr>
            <a:r>
              <a:t>►  Future Scope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Introduction &amp; Academic Background: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8961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•  Institutional Communication Need: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In university campuses, timely, verified circular dissemination is a daily operational necessity. Every week, departments issue 30+ official circulars regarding exam schedules, KT forms, scholarship deadlines, and campus recruitment drives.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•  Diverse Stakeholders: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The campus notification ecosystem connects three distinct groups: Institutional Administrators (Principal/HODs), Faculty Coordinators, and Students.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•  The Current Status Quo: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Currently, institutions rely heavily on physical wooden bulletin boards in hallways or informal WhatsApp/Telegram groups. Critical circulars get overlooked, students miss strict deadlines, and unverified rumors circulate without audit trails.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•  Core Java Mini-Project Context: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Campus Notify bridges laboratory Java concepts (Encapsulation, File I/O, Collections) with modern enterprise deployment to solve this real-world campus bottleneck.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Problem Statement &amp; Motivation: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8961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Information Clutter in Chat Groups: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In WhatsApp/Telegram groups, official notices get buried under hundreds of student chats and forwarded messages. Students frequently miss hall-ticket releases and revaluation deadlines.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Zero Authenticity &amp; Tampering Risk: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Informal channels lack cryptographic authenticity. Edited screenshots and fake holiday notices spread rapidly with no administrative audit trail.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No Category Filtering or Searchability: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Physical notice boards and chat streams offer zero search capability. Finding a circular from 3 weeks ago requires tedious manual scrolling or physical corridor visits.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Physical Access Constraints: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Commuting, ill, or absent students cannot view corridor notice boards in real-time.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Alignment with UN Sustainable Development Goals: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• SDG 4 (Quality Education): Ensuring equitable, organized circular access.
• SDG 9 (Industry, Innovation &amp; Infrastructure): Modernizing campus software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Objectives of the Project: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8961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1.  Centralized Digital Repository: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Design a single, authoritative digital notice management platform replacing fragmented boards and chat groups.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2.  Role-Based Access Control (RBAC):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Implement strict privilege boundaries separating authorized notice publishers (Admin/Faculty) from read-only viewers (Students).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3.  Core Java OOP Principles: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Apply Encapsulation, Constructor Overloading, and Abstraction to structure resilient domain models (Notice, User, Role).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4.  Collections Framework &amp; File Persistence: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Use Java ArrayList and safe Iterator traversal for memory management, and Java File I/O (BufferedReader, PrintWriter) for restart-safe disk persistence.</a:t>
            </a:r>
          </a:p>
          <a:p>
            <a:pPr>
              <a:spcAft>
                <a:spcPts val="1400"/>
              </a:spcAft>
            </a:pPr>
            <a:r>
              <a:rPr b="1" i="0" sz="1400">
                <a:solidFill>
                  <a:srgbClr val="375623"/>
                </a:solidFill>
                <a:latin typeface="Calibri"/>
              </a:rPr>
              <a:t>5.  Dual-Interface Architecture: </a:t>
            </a:r>
            <a:r>
              <a:rPr b="0" i="0" sz="1300">
                <a:solidFill>
                  <a:srgbClr val="1E293B"/>
                </a:solidFill>
                <a:latin typeface="Calibri"/>
              </a:rPr>
              <a:t>Provide an interactive console terminal CLI scanner alongside a modern responsive web dashboard with real-time cloud synchronization.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Literature Survey: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1371600"/>
                <a:gridCol w="1645920"/>
                <a:gridCol w="2011680"/>
                <a:gridCol w="2011680"/>
              </a:tblGrid>
              <a:tr h="914400"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Sr. No.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Title: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Year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Methodology: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Findings: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</a:tr>
              <a:tr h="914400"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 Campus Notice Dissemination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IEEE Access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Sharma et al.</a:t>
                      </a:r>
                      <a:br/>
                      <a:r>
                        <a:t>(2021)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Centralized Client-Server Web Portal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Effective reach but requires heavy server setups; lacks offline local persistence.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914400"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Smart Notice Board using IoT Display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IJERT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Patel &amp; Deshmukh</a:t>
                      </a:r>
                      <a:br/>
                      <a:r>
                        <a:t>(2022)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Raspberry Pi &amp; LED Matrix Display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hardware installation &amp; maintenance cost; no interactive search for students.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Role-Based Access in Higher Education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Springer CS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Gupta &amp; Rao</a:t>
                      </a:r>
                      <a:br/>
                      <a:r>
                        <a:t>(2023)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RBAC Permission Models in Academic Portals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Demonstrated strict permission separation; lacks lightweight file-based failover.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914400"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Campus Communication Bottlenecks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Elsevier CIE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Fernandez et al.</a:t>
                      </a:r>
                      <a:br/>
                      <a:r>
                        <a:t>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Empirical Survey &amp; Analysis of 1,200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9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41% students missed crucial academic deadlines due to informal chat message noise.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Research Gap &amp; Comparative Analysis: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601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828800"/>
                <a:gridCol w="1737360"/>
                <a:gridCol w="2011680"/>
              </a:tblGrid>
              <a:tr h="731520"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Evaluation Metric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Notice Board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WhatsApp / Telegram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ERP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Campus Notify (Proposed)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</a:tr>
              <a:tr h="731520"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Role-Based Verification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 / Open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(Rigid)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375623"/>
                          </a:solidFill>
                          <a:latin typeface="Calibri"/>
                        </a:defRPr>
                      </a:pPr>
                      <a:r>
                        <a:t>Strict RBAC with Audit Trail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731520"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Category &amp; Priority Filtering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(Chronological)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Complex / Cluttered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375623"/>
                          </a:solidFill>
                          <a:latin typeface="Calibri"/>
                        </a:defRPr>
                      </a:pPr>
                      <a:r>
                        <a:t>Instant Multi-Category &amp; Priority Badges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Sub-second Search Engine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Keyword (Noisy)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Slow Database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375623"/>
                          </a:solidFill>
                          <a:latin typeface="Calibri"/>
                        </a:defRPr>
                      </a:pPr>
                      <a:r>
                        <a:t>Sub-100ms In-Memory Dynamic Search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731520"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Data Persistence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Physical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Chat Cache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(Server down)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375623"/>
                          </a:solidFill>
                          <a:latin typeface="Calibri"/>
                        </a:defRPr>
                      </a:pPr>
                      <a:r>
                        <a:t>Dual-Layer: Local Flat-File + Browser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Information Clutter Level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(Paper overlays)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Extreme (Chat noise)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375623"/>
                          </a:solidFill>
                          <a:latin typeface="Calibri"/>
                        </a:defRPr>
                      </a:pPr>
                      <a:r>
                        <a:t>Zero Clutter (Authoritative Only)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Proposed Solution &amp; System Architecture (MVC):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Model Layer (Domain Entities):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Encapsulates core business data: Notice (ID, title, category, priority, timestamp), User (ID, name, role), and Enums (Category: ACADEMIC, EXAM, PLACEMENT, EVENT; Priority: URGENT, HIGH, NORMAL).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View Layer (Dual Presentation):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• Interactive Terminal CLI Driver: Console Scanner menu with colored terminal feeds for laboratory execution.
• Modern Web Dashboard: Semantic HTML5, CSS3 Grid, responsive cards, and dynamic filter controls.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Controller Layer (Business Logic &amp; Storage):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• NoticeService: Implements create, read, update, delete, search, and category filtering algorithms.
• FileStorageEngine: Java BufferedReader &amp; PrintWriter stream manager reading/writing notifications_data.txt.</a:t>
            </a:r>
          </a:p>
          <a:p>
            <a:pPr>
              <a:spcAft>
                <a:spcPts val="10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Cloud &amp; Offline Synchronization Layer: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Google Firebase Firestore real-time snapshot listeners for multi-device sync, paired with browser LocalStorage caching for guaranteed offline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Core Java OOP Design Highlights: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✔  Encapsulation &amp; Data Integrity: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All fields in Notice.java are private. Access and mutation are controlled via public getter/setter methods with strict input validation rejecting null or malformed data.</a:t>
            </a:r>
          </a:p>
          <a:p>
            <a:pPr>
              <a:spcAft>
                <a:spcPts val="11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✔  Constructor Overloading: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Notice class provides dual constructors: one for freshly published notices (generating UUID and system timestamp) and another for deserializing delimited file records.</a:t>
            </a:r>
          </a:p>
          <a:p>
            <a:pPr>
              <a:spcAft>
                <a:spcPts val="11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✔  Collections Framework (ArrayList &amp; Iterator):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Dynamic notifications are stored in ArrayList&lt;Notice&gt;. Safe deletion and filtering are performed using Iterator&lt;Notice&gt; to prevent ConcurrentModificationException.</a:t>
            </a:r>
          </a:p>
          <a:p>
            <a:pPr>
              <a:spcAft>
                <a:spcPts val="11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✔  Java File I/O Persistence: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Atomic read and write operations using BufferedReader and PrintWriter. Circulars are saved in pipe-delimited format (ID|Title|Category|Priority|Date|Author), ensuring complete data recovery upon restart.</a:t>
            </a:r>
          </a:p>
          <a:p>
            <a:pPr>
              <a:spcAft>
                <a:spcPts val="11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✔  Sorting &amp; Lambda Predicates: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Notices are sorted by urgency priority (Urgent &gt; High &gt; Normal) and reverse chronological timestamp using Java 8+ Comparator and Lambda expressions.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Web Dashboard, Security &amp; Governance: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◆  Super Admin Restricted Theme Studio: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College brand consistency requires strict academic visual standards. Palette Studio color customization is restricted strictly to Super Admin (role === 'ADMIN'); regular students experience a clean Academic Royal Blue theme.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◆  Student Privacy Shield &amp; Telemetry Isolation: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Sensitive server telemetry (traffic meters, system load metrics) is removed from the student feed and protected inside the Super Admin Governance Desk.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◆  End-to-End Encryption (E2EE):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Student inquiry channels and confidential notices are encrypted using client-side cryptographic hashing, ensuring zero eavesdropping on public networks.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◆  Universal Multi-Device Responsiveness: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Optimized layout for mobile phones, tablets, and desktops. Includes sticky header/footer modal dialogs, compact mobile navigation avatars, and touch-friendly 2-column actions to prevent button clipping.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◆  Live Cloud Synchronization: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Hosted on Google Firebase Hosting (https://campnotify-eef91.web.app) with Cloud Firestore real-time listeners and offline caching.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Project Planning &amp; 13-Week Timeline: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601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029200"/>
                <a:gridCol w="1645920"/>
                <a:gridCol w="1645920"/>
              </a:tblGrid>
              <a:tr h="653142"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 / Week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 Activity Description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Date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</a:tr>
              <a:tr h="653142"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1 – 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Domain selection, survey of campus announcement bottlenecks, team formulation &amp; literature review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08/07/2025 - 15/07/2025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653142"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3 –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 Requirement Specification (SRS), hardware/software constraints, JDK setup &amp; UML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22/07/2025 - 29/07/2025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5 – 6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 Java Model classes implementation, service layer, file persistence engine (BufferedReader/PrintWriter)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05/08/2025 - 12/08/2025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653142"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 – I Evaluation presentation &amp; project synopsis assessment before faculty panel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19/08/2025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8 – 10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Console CLI driver interactive menu, Web dashboard UI (HTML5/CSS3), and Firebase real-time cloud sync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26/08/2025 - 09/09/2025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</a:tr>
              <a:tr h="653148">
                <a:tc>
                  <a:txBody>
                    <a:bodyPr wrap="square" tIns="54864" bIns="54864"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11 – 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92 Automated test suite execution, Review – II presentation, documentation compilation &amp; viva rehearsal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16/09/2025 - 30/09/2025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Testing &amp; Verification Matrix (92 Tests):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★  Automated Test Suite Overview: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The system underwent rigorous verification through 92 automated test scenarios covering functional logic, role constraints, and concurrent load performance. Overall Pass Rate: 100.0% with zero regressions.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★  Suite 1: Core Functional &amp; Architecture Suite (71 Tests in test_complete_suite.js):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• Model Integrity &amp; Validation (14 tests): Entity construction, null-checks, timestamp formats.
• Role-Based Access Control (18 tests): Unauthorized student attempt to publish, edit, or delete notices strictly rejected.
• Delimited File I/O Persistence (15 tests): Verified 100% roundtrip fidelity without data corruption.
• Search &amp; Filter Logic (24 tests): Multi-category filtering and keyword sub-string accuracy.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★  Suite 2: Enterprise Concurrency &amp; Stress Suite (21 Tests in test_capacity_and_stress.js):
   </a:t>
            </a:r>
            <a:r>
              <a:rPr b="0" i="0" sz="1150">
                <a:solidFill>
                  <a:srgbClr val="1E293B"/>
                </a:solidFill>
                <a:latin typeface="Calibri"/>
              </a:rPr>
              <a:t>• Multi-Threaded Dispatch: 50 concurrent notice publish operations completed with zero lost updates.
• Burst Load Resistance: System sustained rapid search queries at sub-50ms latency.
• Network Disconnect &amp; Recovery: Automatic seamless failover to LocalStorage cache during simulated outages.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Live Demonstration Walkthrough: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Step 1: Student Feed &amp; Search Experience: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Demonstrate standard student view: Academic royal blue theme, clean layout, category filter buttons (Academic, Exam, Placement, Events), and instant sub-100ms keyword search.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Step 2: Role-Based Access Control Security: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Show that regular students have zero access to administrative controls. 'Publish Notice' and 'Delete' buttons are strictly hidden.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Step 3: Super Admin Governance Desk: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Switch role to Admin: Unlocks the Publish modal, priority pinning (Urgent, High, Normal), Palette Studio theme options, and system governance panel.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Step 4: Notice Publishing &amp; Persistence Verification: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Publish sample notice ('Semester III Exam Timetable Announced'). Notice immediately appears pinned at the top, synchronizes with Firebase, and persists to local file storage.</a:t>
            </a:r>
          </a:p>
          <a:p>
            <a:pPr>
              <a:spcAft>
                <a:spcPts val="1000"/>
              </a:spcAft>
            </a:pPr>
            <a:r>
              <a:rPr b="1" i="0" sz="1300">
                <a:solidFill>
                  <a:srgbClr val="375623"/>
                </a:solidFill>
                <a:latin typeface="Calibri"/>
              </a:rPr>
              <a:t>Step 5: Multi-Device &amp; Mobile Responsiveness: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Demonstrate seamless responsive layout on mobile viewport: compact avatar, 2-column touch buttons, and non-clipping sticky modal dialogs.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Conclusion &amp; Societal Impact: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Technical Accomplishments: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• Successfully engineered a robust Model-View-Controller notification architecture in Core Java.
• Solved circular loss through restart-safe Java File I/O persistence without external DB bloat.
• Enforced strict Role-Based Access Control, eliminating unverified notices and message spam.</a:t>
            </a:r>
          </a:p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Pedagogical Value: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Demonstrated the real-world utility of Second Year Java concepts (Encapsulation, File Streams, Collections Framework, Exception Handling) in building a production-ready application.</a:t>
            </a:r>
          </a:p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■  UN Sustainable Development Goals (SDG) Alignment: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• SDG 4: Quality Education — Provides transparent, equal, and timely access to academic information for all students regardless of physical location.
• SDG 9: Industry, Innovation &amp; Infrastructure — Modernizes legacy bulletin boards with a secure digital institutional communication framework.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Future Scope &amp; Extensions: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1. Native Android &amp; iOS Push Notifications: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Integration of Firebase Cloud Messaging (FCM) to deliver instant heads-up push notifications directly to students' mobile locks-creens for urgent exam alerts.</a:t>
            </a:r>
          </a:p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2. AI-Driven Duplicate Notice Detection &amp; Auto-Tagging: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Natural Language Processing (NLP) models to automatically classify circulars into appropriate categories and detect duplicate or conflicting announcements.</a:t>
            </a:r>
          </a:p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3. College ERP &amp; Biometric Attendance Integration: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Direct linkage with institutional ERP databases and biometric turnstiles to automatically trigger targeted SMS notices to parents regarding attendance shortages.</a:t>
            </a:r>
          </a:p>
          <a:p>
            <a:pPr>
              <a:spcAft>
                <a:spcPts val="1200"/>
              </a:spcAft>
            </a:pPr>
            <a:r>
              <a:rPr b="1" i="0" sz="1350">
                <a:solidFill>
                  <a:srgbClr val="375623"/>
                </a:solidFill>
                <a:latin typeface="Calibri"/>
              </a:rPr>
              <a:t>►  4. Multilingual Translation Engine:
   </a:t>
            </a:r>
            <a:r>
              <a:rPr b="0" i="0" sz="1200">
                <a:solidFill>
                  <a:srgbClr val="1E293B"/>
                </a:solidFill>
                <a:latin typeface="Calibri"/>
              </a:rPr>
              <a:t>Support for regional language translation (Marathi, Hindi) to enhance accessibility for all students and parents.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9601200" y="0"/>
            <a:ext cx="2590495" cy="6858000"/>
          </a:xfrm>
          <a:prstGeom prst="rtTriangle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10241280" y="1371600"/>
            <a:ext cx="1950415" cy="5486400"/>
          </a:xfrm>
          <a:prstGeom prst="rtTriangle">
            <a:avLst/>
          </a:prstGeom>
          <a:solidFill>
            <a:srgbClr val="A9D08E"/>
          </a:solidFill>
          <a:ln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0789920" y="2743200"/>
            <a:ext cx="1401775" cy="4114800"/>
          </a:xfrm>
          <a:prstGeom prst="rtTriangl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0AD47"/>
                </a:solidFill>
                <a:latin typeface="Calibri"/>
              </a:defRPr>
            </a:pPr>
            <a:r>
              <a:t>References &amp; Discussion: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Herbert Schildt, 'Java: The Complete Reference', 12th Edition, McGraw-Hill Education, 2021.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Joshua Bloch, 'Effective Java', 3rd Edition, Addison-Wesley Professional, 2018.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University of Mumbai, 'Syllabus for Second Year Information Technology (Semester III &amp; IV)', 2024–2025.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Oracle Corporation, 'Java Platform Standard Edition 17 &amp; 21 API Documentation', docs.oracle.com.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5. IEEE Computer Society, 'Software Engineering Standards &amp; Design Patterns Handbook',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70AD47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600" b="1">
                <a:solidFill>
                  <a:srgbClr val="375623"/>
                </a:solidFill>
                <a:latin typeface="Calibri"/>
              </a:defRPr>
            </a:pPr>
            <a:r>
              <a:t>Questions &amp; Feedback Welcome</a:t>
            </a:r>
            <a:br/>
          </a:p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Live Project: https://campnotify-eef91.web.app | GitHub: ATP0925/CampusNotify-Java-Mini-Project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